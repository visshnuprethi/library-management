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LLI SHANKAR Yaamini Sree" userId="dcbc6425-524f-41e8-a1d3-3d29acafdc2d" providerId="ADAL" clId="{7946D50C-BC34-50D2-B209-17A877F89C47}"/>
    <pc:docChg chg="custSel modSld">
      <pc:chgData name="DILLI SHANKAR Yaamini Sree" userId="dcbc6425-524f-41e8-a1d3-3d29acafdc2d" providerId="ADAL" clId="{7946D50C-BC34-50D2-B209-17A877F89C47}" dt="2026-03-20T09:45:28.283" v="73" actId="20577"/>
      <pc:docMkLst>
        <pc:docMk/>
      </pc:docMkLst>
      <pc:sldChg chg="delSp modSp mod">
        <pc:chgData name="DILLI SHANKAR Yaamini Sree" userId="dcbc6425-524f-41e8-a1d3-3d29acafdc2d" providerId="ADAL" clId="{7946D50C-BC34-50D2-B209-17A877F89C47}" dt="2026-03-20T09:45:28.283" v="73" actId="20577"/>
        <pc:sldMkLst>
          <pc:docMk/>
          <pc:sldMk cId="0" sldId="256"/>
        </pc:sldMkLst>
        <pc:spChg chg="mod">
          <ac:chgData name="DILLI SHANKAR Yaamini Sree" userId="dcbc6425-524f-41e8-a1d3-3d29acafdc2d" providerId="ADAL" clId="{7946D50C-BC34-50D2-B209-17A877F89C47}" dt="2026-03-20T09:45:12.659" v="62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DILLI SHANKAR Yaamini Sree" userId="dcbc6425-524f-41e8-a1d3-3d29acafdc2d" providerId="ADAL" clId="{7946D50C-BC34-50D2-B209-17A877F89C47}" dt="2026-03-20T09:45:28.283" v="73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DILLI SHANKAR Yaamini Sree" userId="dcbc6425-524f-41e8-a1d3-3d29acafdc2d" providerId="ADAL" clId="{7946D50C-BC34-50D2-B209-17A877F89C47}" dt="2026-03-20T09:45:18.992" v="63" actId="1076"/>
          <ac:spMkLst>
            <pc:docMk/>
            <pc:sldMk cId="0" sldId="256"/>
            <ac:spMk id="6" creationId="{00000000-0000-0000-0000-000000000000}"/>
          </ac:spMkLst>
        </pc:spChg>
        <pc:spChg chg="del mod">
          <ac:chgData name="DILLI SHANKAR Yaamini Sree" userId="dcbc6425-524f-41e8-a1d3-3d29acafdc2d" providerId="ADAL" clId="{7946D50C-BC34-50D2-B209-17A877F89C47}" dt="2026-03-20T09:44:58.136" v="59" actId="478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6626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31495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64008" cy="514350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kern="0" spc="30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kern="0" spc="30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March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</a:p>
          <a:p>
            <a:pPr marL="0" indent="0">
              <a:buNone/>
            </a:pPr>
            <a:endParaRPr lang="en-US" sz="1000" dirty="0">
              <a:solidFill>
                <a:srgbClr val="7A9BBF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 err="1">
                <a:solidFill>
                  <a:srgbClr val="7A9BBF"/>
                </a:solidFill>
                <a:latin typeface="Calibri" pitchFamily="34" charset="0"/>
                <a:cs typeface="Calibri" pitchFamily="34" charset="-120"/>
              </a:rPr>
              <a:t>Visshnu</a:t>
            </a:r>
            <a:r>
              <a:rPr lang="en-US" sz="1000" dirty="0">
                <a:solidFill>
                  <a:srgbClr val="7A9BB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7A9BBF"/>
                </a:solidFill>
                <a:latin typeface="Calibri" pitchFamily="34" charset="0"/>
                <a:cs typeface="Calibri" pitchFamily="34" charset="-120"/>
              </a:rPr>
              <a:t>Prethi</a:t>
            </a:r>
            <a:r>
              <a:rPr lang="en-US" sz="1000" dirty="0">
                <a:solidFill>
                  <a:srgbClr val="7A9BB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7A9BBF"/>
                </a:solidFill>
                <a:latin typeface="Calibri" pitchFamily="34" charset="0"/>
                <a:cs typeface="Calibri" pitchFamily="34" charset="-120"/>
              </a:rPr>
              <a:t>Manjere</a:t>
            </a:r>
            <a:r>
              <a:rPr lang="en-US" sz="1000" dirty="0">
                <a:solidFill>
                  <a:srgbClr val="7A9BBF"/>
                </a:solidFill>
                <a:latin typeface="Calibri" pitchFamily="34" charset="0"/>
                <a:cs typeface="Calibri" pitchFamily="34" charset="-120"/>
              </a:rPr>
              <a:t> Kumar</a:t>
            </a:r>
          </a:p>
          <a:p>
            <a:pPr marL="0" indent="0">
              <a:buNone/>
            </a:pPr>
            <a:endParaRPr lang="en-US" sz="1000" dirty="0">
              <a:solidFill>
                <a:srgbClr val="7A9BBF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7A9BBF"/>
                </a:solidFill>
                <a:latin typeface="Calibri" pitchFamily="34" charset="0"/>
                <a:cs typeface="Calibri" pitchFamily="34" charset="-120"/>
              </a:rPr>
              <a:t>Yaamini Sree Dilli Shankar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49040" y="137160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Library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749040" y="3063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Spring Boot · Spring Security · JWT · H2 · REST 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49040" y="3520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Software Development — ESILV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4114800"/>
            <a:ext cx="1188720" cy="320040"/>
          </a:xfrm>
          <a:prstGeom prst="rect">
            <a:avLst/>
          </a:prstGeom>
          <a:solidFill>
            <a:srgbClr val="2D7DD2">
              <a:alpha val="80000"/>
            </a:srgbClr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49040" y="4114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74920" y="4114800"/>
            <a:ext cx="1188720" cy="320040"/>
          </a:xfrm>
          <a:prstGeom prst="rect">
            <a:avLst/>
          </a:prstGeom>
          <a:solidFill>
            <a:srgbClr val="5B3FA6">
              <a:alpha val="80000"/>
            </a:srgbClr>
          </a:solidFill>
          <a:ln w="12700">
            <a:solidFill>
              <a:srgbClr val="5B3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74920" y="4114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0" y="4114800"/>
            <a:ext cx="1188720" cy="320040"/>
          </a:xfrm>
          <a:prstGeom prst="rect">
            <a:avLst/>
          </a:prstGeom>
          <a:solidFill>
            <a:srgbClr val="0D7377">
              <a:alpha val="80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4114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26680" y="4114800"/>
            <a:ext cx="1188720" cy="320040"/>
          </a:xfrm>
          <a:prstGeom prst="rect">
            <a:avLst/>
          </a:prstGeom>
          <a:solidFill>
            <a:srgbClr val="1D8A4E">
              <a:alpha val="80000"/>
            </a:srgbClr>
          </a:solidFill>
          <a:ln w="12700">
            <a:solidFill>
              <a:srgbClr val="1D8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26680" y="4114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Database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idea &amp; main features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86460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Library Management System  |  Group 01  |  Secure Software Development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3931920" cy="3383280"/>
          </a:xfrm>
          <a:prstGeom prst="rect">
            <a:avLst/>
          </a:prstGeom>
          <a:solidFill>
            <a:srgbClr val="F4F6F8"/>
          </a:solidFill>
          <a:ln w="6350">
            <a:solidFill>
              <a:srgbClr val="DDE4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188720"/>
            <a:ext cx="64008" cy="338328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234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1691640"/>
            <a:ext cx="3520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log in securely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full book catalogue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title, author or category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borrow request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status of own requests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4023360" cy="3383280"/>
          </a:xfrm>
          <a:prstGeom prst="rect">
            <a:avLst/>
          </a:prstGeom>
          <a:solidFill>
            <a:srgbClr val="F4F6F8"/>
          </a:solidFill>
          <a:ln w="6350">
            <a:solidFill>
              <a:srgbClr val="DDE4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1188720"/>
            <a:ext cx="64008" cy="338328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1234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7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 Role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16916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 and delete books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borrow requests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requests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available copy count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registered users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principle: the two-role system was the first design decision — who can do what drives every access control in the project.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86460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Library Management System  |  Group 01  |  Secure Software Development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1600" y="1188720"/>
            <a:ext cx="6400800" cy="566928"/>
          </a:xfrm>
          <a:prstGeom prst="rect">
            <a:avLst/>
          </a:prstGeom>
          <a:solidFill>
            <a:srgbClr val="0D7377">
              <a:alpha val="85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08760" y="124358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(HTML / JS)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149961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login.html  index.html  admin.html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1764792"/>
            <a:ext cx="0" cy="109728"/>
          </a:xfrm>
          <a:prstGeom prst="line">
            <a:avLst/>
          </a:prstGeom>
          <a:noFill/>
          <a:ln w="15240">
            <a:solidFill>
              <a:srgbClr val="8B9B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371600" y="1920240"/>
            <a:ext cx="6400800" cy="566928"/>
          </a:xfrm>
          <a:prstGeom prst="rect">
            <a:avLst/>
          </a:prstGeom>
          <a:solidFill>
            <a:srgbClr val="5B3FA6">
              <a:alpha val="85000"/>
            </a:srgbClr>
          </a:solidFill>
          <a:ln w="12700">
            <a:solidFill>
              <a:srgbClr val="5B3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508760" y="197510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filter chain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223113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validation on every request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34840" y="2496312"/>
            <a:ext cx="0" cy="109728"/>
          </a:xfrm>
          <a:prstGeom prst="line">
            <a:avLst/>
          </a:prstGeom>
          <a:noFill/>
          <a:ln w="15240">
            <a:solidFill>
              <a:srgbClr val="8B9B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371600" y="2651760"/>
            <a:ext cx="6400800" cy="566928"/>
          </a:xfrm>
          <a:prstGeom prst="rect">
            <a:avLst/>
          </a:prstGeom>
          <a:solidFill>
            <a:srgbClr val="2D7DD2">
              <a:alpha val="85000"/>
            </a:srgbClr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508760" y="270662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296265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 Book  Borrow  User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34840" y="3227832"/>
            <a:ext cx="0" cy="109728"/>
          </a:xfrm>
          <a:prstGeom prst="line">
            <a:avLst/>
          </a:prstGeom>
          <a:noFill/>
          <a:ln w="15240">
            <a:solidFill>
              <a:srgbClr val="8B9B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371600" y="3383280"/>
            <a:ext cx="6400800" cy="566928"/>
          </a:xfrm>
          <a:prstGeom prst="rect">
            <a:avLst/>
          </a:prstGeom>
          <a:solidFill>
            <a:srgbClr val="1D8A4E">
              <a:alpha val="85000"/>
            </a:srgbClr>
          </a:solidFill>
          <a:ln w="12700">
            <a:solidFill>
              <a:srgbClr val="1D8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508760" y="343814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369417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+ audit logging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34840" y="3959352"/>
            <a:ext cx="0" cy="109728"/>
          </a:xfrm>
          <a:prstGeom prst="line">
            <a:avLst/>
          </a:prstGeom>
          <a:noFill/>
          <a:ln w="15240">
            <a:solidFill>
              <a:srgbClr val="8B9B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71600" y="4114800"/>
            <a:ext cx="6400800" cy="566928"/>
          </a:xfrm>
          <a:prstGeom prst="rect">
            <a:avLst/>
          </a:prstGeom>
          <a:solidFill>
            <a:srgbClr val="B45309">
              <a:alpha val="85000"/>
            </a:srgbClr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508760" y="416966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+ H2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08760" y="442569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JPQL parameterised queries only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366760" y="1188720"/>
            <a:ext cx="640080" cy="822960"/>
          </a:xfrm>
          <a:prstGeom prst="rect">
            <a:avLst/>
          </a:prstGeom>
          <a:solidFill>
            <a:srgbClr val="F4F6F8"/>
          </a:solidFill>
          <a:ln w="6350">
            <a:solidFill>
              <a:srgbClr val="DDE4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366760" y="12070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366760" y="16459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source files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8366760" y="2194560"/>
            <a:ext cx="640080" cy="822960"/>
          </a:xfrm>
          <a:prstGeom prst="rect">
            <a:avLst/>
          </a:prstGeom>
          <a:solidFill>
            <a:srgbClr val="F4F6F8"/>
          </a:solidFill>
          <a:ln w="6350">
            <a:solidFill>
              <a:srgbClr val="DDE4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366760" y="22128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366760" y="2651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pages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366760" y="3200400"/>
            <a:ext cx="640080" cy="822960"/>
          </a:xfrm>
          <a:prstGeom prst="rect">
            <a:avLst/>
          </a:prstGeom>
          <a:solidFill>
            <a:srgbClr val="F4F6F8"/>
          </a:solidFill>
          <a:ln w="6350">
            <a:solidFill>
              <a:srgbClr val="DDE4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366760" y="32186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8366760" y="36576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and trust boundaries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86460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Library Management System  |  Group 01  |  Secure Software Development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143000"/>
            <a:ext cx="2606040" cy="3246120"/>
          </a:xfrm>
          <a:prstGeom prst="rect">
            <a:avLst/>
          </a:prstGeom>
          <a:solidFill>
            <a:srgbClr val="B91C1C">
              <a:alpha val="8000"/>
            </a:srgbClr>
          </a:solidFill>
          <a:ln w="190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1704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zone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600200"/>
            <a:ext cx="23317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B91C1C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600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Browser/User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23317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B91C1C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286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 browser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23317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B91C1C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971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1143000"/>
            <a:ext cx="2606040" cy="3246120"/>
          </a:xfrm>
          <a:prstGeom prst="rect">
            <a:avLst/>
          </a:prstGeom>
          <a:solidFill>
            <a:srgbClr val="1B7A4A">
              <a:alpha val="8000"/>
            </a:srgbClr>
          </a:solidFill>
          <a:ln w="19050">
            <a:solidFill>
              <a:srgbClr val="1B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0" y="11704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boundary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1600200"/>
            <a:ext cx="23317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B7A4A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37560" y="1600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controller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2286000"/>
            <a:ext cx="23317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B7A4A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37560" y="2286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filter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37560" y="2971800"/>
            <a:ext cx="23317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B7A4A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37560" y="2971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controller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3657600"/>
            <a:ext cx="23317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B7A4A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37560" y="3657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controller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1143000"/>
            <a:ext cx="2606040" cy="3246120"/>
          </a:xfrm>
          <a:prstGeom prst="rect">
            <a:avLst/>
          </a:prstGeom>
          <a:solidFill>
            <a:srgbClr val="1B4F8A">
              <a:alpha val="8000"/>
            </a:srgbClr>
          </a:solidFill>
          <a:ln w="1905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83680" y="11704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29400" y="1600200"/>
            <a:ext cx="23317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B4F8A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29400" y="1600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DB (H2)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29400" y="2286000"/>
            <a:ext cx="23317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B4F8A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629400" y="2286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DB (H2)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629400" y="2971800"/>
            <a:ext cx="23317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B4F8A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629400" y="2971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Borrows DB (H2)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852928" y="2286000"/>
            <a:ext cx="320040" cy="0"/>
          </a:xfrm>
          <a:prstGeom prst="line">
            <a:avLst/>
          </a:prstGeom>
          <a:noFill/>
          <a:ln w="19050">
            <a:solidFill>
              <a:srgbClr val="8B9B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73368" y="2286000"/>
            <a:ext cx="91440" cy="0"/>
          </a:xfrm>
          <a:prstGeom prst="line">
            <a:avLst/>
          </a:prstGeom>
          <a:noFill/>
          <a:ln w="19050">
            <a:solidFill>
              <a:srgbClr val="8B9B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28600" y="4498848"/>
            <a:ext cx="8686800" cy="301752"/>
          </a:xfrm>
          <a:prstGeom prst="rect">
            <a:avLst/>
          </a:prstGeom>
          <a:solidFill>
            <a:srgbClr val="FEF9E7"/>
          </a:solidFill>
          <a:ln w="9525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0040" y="45171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requests cross the Application boundary — the Spring Security JWT filter checks every request before any controller is reached.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threat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86460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Library Management System  |  Group 01  |  Secure Software Development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143000"/>
          <a:ext cx="8686800" cy="35204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DFD element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STRIDE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Threat description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★ Login form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C2D12"/>
                          </a:solidFill>
                        </a:rPr>
                        <a:t>Spoofing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Attacker impersonates valid user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BCrypt hashing + JWT + audit log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★ API endpoints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C2D12"/>
                          </a:solidFill>
                        </a:rPr>
                        <a:t>Elevation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USER calls librarian endpoints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@PreAuthorize + filter chain RBAC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★ Database queries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3FA6"/>
                          </a:solidFill>
                        </a:rPr>
                        <a:t>Info disclosure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SQL injection via search param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JPQL named parameters (ORM)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JWT token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54F0B"/>
                          </a:solidFill>
                        </a:rPr>
                        <a:t>Tampering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Forged token to elevate role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HMAC-SHA256 signature verified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Error responses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B3FA6"/>
                          </a:solidFill>
                        </a:rPr>
                        <a:t>Info disclosure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Stack trace reveals internals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54F0B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GlobalExceptionHandler masks all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Admin operations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B9BB4"/>
                          </a:solidFill>
                        </a:rPr>
                        <a:t>Repudiation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Deny performing admin action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54F0B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</a:rPr>
                        <a:t>SLF4J audit log with username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28600" y="4663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Top 3 priority threats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 measures implemented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86460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Library Management System  |  Group 01  |  Secure Software Development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4206240" cy="1051560"/>
          </a:xfrm>
          <a:prstGeom prst="rect">
            <a:avLst/>
          </a:prstGeom>
          <a:solidFill>
            <a:srgbClr val="F4F6F8"/>
          </a:solidFill>
          <a:ln w="6350">
            <a:solidFill>
              <a:srgbClr val="DDE4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188720"/>
            <a:ext cx="502920" cy="1051560"/>
          </a:xfrm>
          <a:prstGeom prst="rect">
            <a:avLst/>
          </a:prstGeom>
          <a:solidFill>
            <a:srgbClr val="5B3FA6">
              <a:alpha val="85000"/>
            </a:srgbClr>
          </a:solidFill>
          <a:ln w="12700">
            <a:solidFill>
              <a:srgbClr val="5B3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1887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12618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15361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cost 10 — never plain text stored. All passwords show $2a$10$ format in DB.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188720"/>
            <a:ext cx="4206240" cy="1051560"/>
          </a:xfrm>
          <a:prstGeom prst="rect">
            <a:avLst/>
          </a:prstGeom>
          <a:solidFill>
            <a:srgbClr val="F4F6F8"/>
          </a:solidFill>
          <a:ln w="6350">
            <a:solidFill>
              <a:srgbClr val="DDE4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09160" y="1188720"/>
            <a:ext cx="502920" cy="1051560"/>
          </a:xfrm>
          <a:prstGeom prst="rect">
            <a:avLst/>
          </a:prstGeom>
          <a:solidFill>
            <a:srgbClr val="0D7377">
              <a:alpha val="85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11887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0" y="12618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0" y="15361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HMAC-SHA256 token. Secret loaded from env var — never in source code.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359152"/>
            <a:ext cx="4206240" cy="1051560"/>
          </a:xfrm>
          <a:prstGeom prst="rect">
            <a:avLst/>
          </a:prstGeom>
          <a:solidFill>
            <a:srgbClr val="F4F6F8"/>
          </a:solidFill>
          <a:ln w="6350">
            <a:solidFill>
              <a:srgbClr val="DDE4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2359152"/>
            <a:ext cx="502920" cy="1051560"/>
          </a:xfrm>
          <a:prstGeom prst="rect">
            <a:avLst/>
          </a:prstGeom>
          <a:solidFill>
            <a:srgbClr val="2D7DD2">
              <a:alpha val="85000"/>
            </a:srgbClr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2359152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24323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270662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 on every admin route + Spring Security filter chain (2 independent layers).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359152"/>
            <a:ext cx="4206240" cy="1051560"/>
          </a:xfrm>
          <a:prstGeom prst="rect">
            <a:avLst/>
          </a:prstGeom>
          <a:solidFill>
            <a:srgbClr val="F4F6F8"/>
          </a:solidFill>
          <a:ln w="6350">
            <a:solidFill>
              <a:srgbClr val="DDE4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2359152"/>
            <a:ext cx="502920" cy="1051560"/>
          </a:xfrm>
          <a:prstGeom prst="rect">
            <a:avLst/>
          </a:prstGeom>
          <a:solidFill>
            <a:srgbClr val="1D8A4E">
              <a:alpha val="85000"/>
            </a:srgbClr>
          </a:solidFill>
          <a:ln w="12700">
            <a:solidFill>
              <a:srgbClr val="1D8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09160" y="2359152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0" y="24323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270662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@NotBlank @Size @Email @Pattern on all DTOs server-side. JS validation client-side.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529584"/>
            <a:ext cx="4206240" cy="1051560"/>
          </a:xfrm>
          <a:prstGeom prst="rect">
            <a:avLst/>
          </a:prstGeom>
          <a:solidFill>
            <a:srgbClr val="F4F6F8"/>
          </a:solidFill>
          <a:ln w="6350">
            <a:solidFill>
              <a:srgbClr val="DDE4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3529584"/>
            <a:ext cx="502920" cy="1051560"/>
          </a:xfrm>
          <a:prstGeom prst="rect">
            <a:avLst/>
          </a:prstGeom>
          <a:solidFill>
            <a:srgbClr val="B45309">
              <a:alpha val="85000"/>
            </a:srgbClr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3529584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" y="36027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prevention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8680" y="387705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JPQL named parameters via Spring Data JPA — string concatenation is impossible by design.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3529584"/>
            <a:ext cx="4206240" cy="1051560"/>
          </a:xfrm>
          <a:prstGeom prst="rect">
            <a:avLst/>
          </a:prstGeom>
          <a:solidFill>
            <a:srgbClr val="F4F6F8"/>
          </a:solidFill>
          <a:ln w="6350">
            <a:solidFill>
              <a:srgbClr val="DDE4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09160" y="3529584"/>
            <a:ext cx="502920" cy="1051560"/>
          </a:xfrm>
          <a:prstGeom prst="rect">
            <a:avLst/>
          </a:prstGeom>
          <a:solidFill>
            <a:srgbClr val="B91C1C">
              <a:alpha val="85000"/>
            </a:srgbClr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09160" y="3529584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03520" y="36027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masking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03520" y="387705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GlobalExceptionHandler returns generic messages only — no stack traces to the browser.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and DAST analysis results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86460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Library Management System  |  Group 01  |  Secure Software Development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— SonarQube for IDE (IntelliJ)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234440" cy="868680"/>
          </a:xfrm>
          <a:prstGeom prst="rect">
            <a:avLst/>
          </a:prstGeom>
          <a:solidFill>
            <a:srgbClr val="F4F6F8"/>
          </a:solidFill>
          <a:ln w="6350">
            <a:solidFill>
              <a:srgbClr val="DDE4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59105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74320" y="20848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issues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664208" y="1572768"/>
            <a:ext cx="1234440" cy="868680"/>
          </a:xfrm>
          <a:prstGeom prst="rect">
            <a:avLst/>
          </a:prstGeom>
          <a:solidFill>
            <a:srgbClr val="F4F6F8"/>
          </a:solidFill>
          <a:ln w="6350">
            <a:solidFill>
              <a:srgbClr val="DDE4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664208" y="159105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D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64208" y="20848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fixes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054096" y="1572768"/>
            <a:ext cx="1234440" cy="868680"/>
          </a:xfrm>
          <a:prstGeom prst="rect">
            <a:avLst/>
          </a:prstGeom>
          <a:solidFill>
            <a:srgbClr val="F4F6F8"/>
          </a:solidFill>
          <a:ln w="6350">
            <a:solidFill>
              <a:srgbClr val="DDE4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054096" y="159105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054096" y="20848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2514600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 — @Autowired field injection → constructor injection (7 files, java:S6813)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2 — ResponseEntity&lt;?&gt; wildcard → explicit type (BookController, java:S1452)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3 — Stream.collect(Collectors.toList()) → .toList() (BorrowService, java:S2687)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1143000"/>
            <a:ext cx="4343400" cy="3337560"/>
          </a:xfrm>
          <a:prstGeom prst="rect">
            <a:avLst/>
          </a:prstGeom>
          <a:solidFill>
            <a:srgbClr val="F4F6F8"/>
          </a:solidFill>
          <a:ln w="6350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0" y="1143000"/>
            <a:ext cx="64008" cy="33375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— OWASP ZAP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16184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header not set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0" y="1618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55280" y="1618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892808"/>
            <a:ext cx="3977640" cy="0"/>
          </a:xfrm>
          <a:prstGeom prst="line">
            <a:avLst/>
          </a:prstGeom>
          <a:noFill/>
          <a:ln w="6350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21305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HSTS header not set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15200" y="21305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955280" y="2130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404872"/>
            <a:ext cx="3977640" cy="0"/>
          </a:xfrm>
          <a:prstGeom prst="line">
            <a:avLst/>
          </a:prstGeom>
          <a:noFill/>
          <a:ln w="6350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26426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HTTPS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315200" y="26426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955280" y="26426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916936"/>
            <a:ext cx="3977640" cy="0"/>
          </a:xfrm>
          <a:prstGeom prst="line">
            <a:avLst/>
          </a:prstGeom>
          <a:noFill/>
          <a:ln w="6350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54880" y="3154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Secure flag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315200" y="31546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955280" y="3154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" y="45262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Security Hotspots  |  Zero Taint Vulnerabilities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security pipeline &amp; conclusion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86460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Library Management System  |  Group 01  |  Secure Software Development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48646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1325880" cy="960120"/>
          </a:xfrm>
          <a:prstGeom prst="rect">
            <a:avLst/>
          </a:prstGeom>
          <a:solidFill>
            <a:srgbClr val="0D1B2A">
              <a:alpha val="90000"/>
            </a:srgbClr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8600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5176" y="153619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push / PR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" y="1801368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trigger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554480" y="1664208"/>
            <a:ext cx="137160" cy="0"/>
          </a:xfrm>
          <a:prstGeom prst="line">
            <a:avLst/>
          </a:prstGeom>
          <a:noFill/>
          <a:ln w="19050">
            <a:solidFill>
              <a:srgbClr val="8B9B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70573" y="1595627"/>
            <a:ext cx="1325880" cy="1046985"/>
          </a:xfrm>
          <a:prstGeom prst="rect">
            <a:avLst/>
          </a:prstGeom>
          <a:solidFill>
            <a:srgbClr val="0D7377">
              <a:alpha val="90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91640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28216" y="153619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28216" y="1801368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verify + JUnit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017520" y="1664208"/>
            <a:ext cx="137160" cy="0"/>
          </a:xfrm>
          <a:prstGeom prst="line">
            <a:avLst/>
          </a:prstGeom>
          <a:noFill/>
          <a:ln w="19050">
            <a:solidFill>
              <a:srgbClr val="8B9B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154680" y="1188720"/>
            <a:ext cx="1325880" cy="960120"/>
          </a:xfrm>
          <a:prstGeom prst="rect">
            <a:avLst/>
          </a:prstGeom>
          <a:solidFill>
            <a:srgbClr val="5B3FA6">
              <a:alpha val="90000"/>
            </a:srgbClr>
          </a:solidFill>
          <a:ln w="12700">
            <a:solidFill>
              <a:srgbClr val="5B3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154680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191256" y="153619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scan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91256" y="1801368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 p/owasp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480560" y="1664208"/>
            <a:ext cx="137160" cy="0"/>
          </a:xfrm>
          <a:prstGeom prst="line">
            <a:avLst/>
          </a:prstGeom>
          <a:noFill/>
          <a:ln w="19050">
            <a:solidFill>
              <a:srgbClr val="8B9B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96653" y="1595627"/>
            <a:ext cx="1346947" cy="1046987"/>
          </a:xfrm>
          <a:prstGeom prst="rect">
            <a:avLst/>
          </a:prstGeom>
          <a:solidFill>
            <a:srgbClr val="854F0B">
              <a:alpha val="90000"/>
            </a:srgbClr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17720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54296" y="153619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scan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54296" y="1801368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dep-check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0" y="1664208"/>
            <a:ext cx="137160" cy="0"/>
          </a:xfrm>
          <a:prstGeom prst="line">
            <a:avLst/>
          </a:prstGeom>
          <a:noFill/>
          <a:ln w="19050">
            <a:solidFill>
              <a:srgbClr val="8B9B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080760" y="1188720"/>
            <a:ext cx="1325880" cy="960120"/>
          </a:xfrm>
          <a:prstGeom prst="rect">
            <a:avLst/>
          </a:prstGeom>
          <a:solidFill>
            <a:srgbClr val="2D7DD2">
              <a:alpha val="90000"/>
            </a:srgbClr>
          </a:solidFill>
          <a:ln w="12700">
            <a:solidFill>
              <a:srgbClr val="2D7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080760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17336" y="153619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staging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17336" y="1801368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-jar port 8080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406640" y="1664208"/>
            <a:ext cx="137160" cy="0"/>
          </a:xfrm>
          <a:prstGeom prst="line">
            <a:avLst/>
          </a:prstGeom>
          <a:noFill/>
          <a:ln w="19050">
            <a:solidFill>
              <a:srgbClr val="8B9B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543800" y="1595628"/>
            <a:ext cx="1325880" cy="1046988"/>
          </a:xfrm>
          <a:prstGeom prst="rect">
            <a:avLst/>
          </a:prstGeom>
          <a:solidFill>
            <a:srgbClr val="0D7377">
              <a:alpha val="90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543800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80376" y="1536192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scan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580376" y="1801368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 baseline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82880" y="3511296"/>
            <a:ext cx="8686800" cy="457200"/>
          </a:xfrm>
          <a:prstGeom prst="rect">
            <a:avLst/>
          </a:prstGeom>
          <a:solidFill>
            <a:srgbClr val="0D1B2A">
              <a:alpha val="90000"/>
            </a:srgbClr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46304" y="352501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gate — if SAST or DAST failed → PR blocked  |  All passed → Merge allowed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05740" y="4306824"/>
            <a:ext cx="8686800" cy="347472"/>
          </a:xfrm>
          <a:prstGeom prst="rect">
            <a:avLst/>
          </a:prstGeom>
          <a:solidFill>
            <a:srgbClr val="FEF9E7"/>
          </a:solidFill>
          <a:ln w="9525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97180" y="4334256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JWT_SECRET stored in GitHub Actions Secrets — never hardcoded in YAML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B9558266-76A0-4C26-1130-66B04F35E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7428" cy="551329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A6E7456-7529-A18B-7A51-31322DCA9418}"/>
              </a:ext>
            </a:extLst>
          </p:cNvPr>
          <p:cNvSpPr/>
          <p:nvPr/>
        </p:nvSpPr>
        <p:spPr>
          <a:xfrm>
            <a:off x="663388" y="1613647"/>
            <a:ext cx="7584141" cy="31555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417EB-6C8D-C5A5-E51C-039ACD60C197}"/>
              </a:ext>
            </a:extLst>
          </p:cNvPr>
          <p:cNvSpPr txBox="1"/>
          <p:nvPr/>
        </p:nvSpPr>
        <p:spPr>
          <a:xfrm>
            <a:off x="779929" y="1730189"/>
            <a:ext cx="73600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ngsana New" panose="02020603050405020304" pitchFamily="18" charset="-34"/>
                <a:cs typeface="Angsana New" panose="02020603050405020304" pitchFamily="18" charset="-34"/>
              </a:rPr>
              <a:t>• Security is not a feature added at the end — it is a property of the whole system</a:t>
            </a:r>
          </a:p>
          <a:p>
            <a:endParaRPr lang="en-IN" sz="2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IN" sz="2000" dirty="0">
                <a:latin typeface="Angsana New" panose="02020603050405020304" pitchFamily="18" charset="-34"/>
                <a:cs typeface="Angsana New" panose="02020603050405020304" pitchFamily="18" charset="-34"/>
              </a:rPr>
              <a:t>• Every layer is independently protected: filter chain, @</a:t>
            </a:r>
            <a:r>
              <a:rPr lang="en-IN" sz="20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PreAuthorize</a:t>
            </a:r>
            <a:r>
              <a:rPr lang="en-IN" sz="2000" dirty="0">
                <a:latin typeface="Angsana New" panose="02020603050405020304" pitchFamily="18" charset="-34"/>
                <a:cs typeface="Angsana New" panose="02020603050405020304" pitchFamily="18" charset="-34"/>
              </a:rPr>
              <a:t>, JPQL, error masking</a:t>
            </a:r>
          </a:p>
          <a:p>
            <a:endParaRPr lang="en-IN" sz="2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IN" sz="2000" dirty="0">
                <a:latin typeface="Angsana New" panose="02020603050405020304" pitchFamily="18" charset="-34"/>
                <a:cs typeface="Angsana New" panose="02020603050405020304" pitchFamily="18" charset="-34"/>
              </a:rPr>
              <a:t>• 42 SAST issues reduced to 7 (83% reduction) — zero security hotspots remain</a:t>
            </a:r>
          </a:p>
          <a:p>
            <a:endParaRPr lang="en-IN" sz="2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IN" sz="2000" dirty="0">
                <a:latin typeface="Angsana New" panose="02020603050405020304" pitchFamily="18" charset="-34"/>
                <a:cs typeface="Angsana New" panose="02020603050405020304" pitchFamily="18" charset="-34"/>
              </a:rPr>
              <a:t>• OWASP ZAP confirmed CSP and HSTS headers present in responses</a:t>
            </a:r>
          </a:p>
          <a:p>
            <a:endParaRPr lang="en-US" sz="2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391211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C2E60D-7691-D234-BB0B-C18D734B1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6174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564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858</Words>
  <Application>Microsoft Macintosh PowerPoint</Application>
  <PresentationFormat>On-screen Show (16:9)</PresentationFormat>
  <Paragraphs>201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Angsana New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Library Management System</dc:title>
  <dc:subject>PptxGenJS Presentation</dc:subject>
  <dc:creator>Group 01</dc:creator>
  <cp:lastModifiedBy>DILLI SHANKAR Yaamini Sree</cp:lastModifiedBy>
  <cp:revision>2</cp:revision>
  <dcterms:created xsi:type="dcterms:W3CDTF">2026-03-20T09:28:55Z</dcterms:created>
  <dcterms:modified xsi:type="dcterms:W3CDTF">2026-03-20T09:45:36Z</dcterms:modified>
</cp:coreProperties>
</file>